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6A73"/>
    <a:srgbClr val="23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DEFD-056F-8D0A-C3E0-632F18F40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1228B-EB26-86A3-79C0-28A5DA1D3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BE5EB-B364-4052-65E3-E1417469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D5428-BE2D-CA9D-010C-CE0BAF70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DFCA1-3556-7F72-515E-5843DECC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789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B401-B5FA-937F-04A1-E10F87F6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39811-7DA8-B547-BADE-730AC7776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C8002-157C-28CE-E39E-2C73396AD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33ECF-8C1E-F327-350C-04B43ABDB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6611A-AB0C-869C-9E0D-AE051FA2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04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1809-4657-A9C2-3472-88B7642B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884D9-4FB7-48D5-386E-9FA559321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30B32-E1E9-F443-36ED-8B1FB095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CEB06-BA00-E138-3D3E-ACD5D51F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DD98D-E846-4112-8C97-B2E2C0B3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561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D28C-68FE-E7DA-9310-A8703831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17038-1CA4-90D2-3C94-049B44512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6BA47-3426-F701-2C56-FF0F3AE83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10007-05D3-5E5A-515C-7F728785A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7A749-6F44-5900-BFF0-D4467A166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52F13-9140-EFFD-C7BE-6AD3B77D1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04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F7046-2E41-2C31-10AA-1445F0E85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2743A-501F-18B6-F631-D886086D9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73767-8A7F-C08E-000F-3CA31E69D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DDE47-D3BC-79A5-CACE-DAE34C643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28E4E-F77B-E794-E901-6973AA077C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1F25D4-D87C-CB82-D7E3-844BBC0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3AC23-558C-2D2A-485D-1C0A88FBC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AF45F5-0CFA-32B8-6C6D-C7D3E4FD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34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E5BF-50E9-70A0-A0D4-809081005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EB04B-0B70-7885-CA04-E752A423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D2F99-4DD8-C7DE-1F88-175DFAD1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4FA08-2203-D16C-913A-4E4AAC9C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0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FD0968-42F6-AC74-12E4-F8494BFC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73DCE-2DA8-69AD-EE0A-3251FC6D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FFE1B-8886-7F68-F3FA-04867F22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421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C03C-4005-2F42-E7C2-3870FAB2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D0EBB-FC01-11A3-946A-FCAAA5748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F73A8-CE1C-EB89-95A3-523426A7C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6690C-829D-C6E1-AAC6-77A5E5AA9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FDFCC-0BFE-3BFE-167A-400EA36E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AAF08-4CA1-4687-596C-CEE3F1A1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66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D3EC-A223-FCCE-7160-60912F17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95BF8-0195-CCD3-0F1E-D889732C9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C377E-9752-BE3A-8F07-7D5D90A5B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70F90-5709-1138-A7F9-26556F0D9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A081B-F3FC-0A71-738F-23E67CE5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ACA90-02B9-D8A7-05EC-74557433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9234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D06C-59B2-6005-4366-1765D626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CAE36-DAA4-7D49-61C0-41524338A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9BE04-C88A-CF29-B080-84E0C588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B5D28-B655-31A4-E9FD-3CC668851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E182D-C939-D866-1743-9D6B6036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84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2913F9-2DEA-92C3-3FA5-0214BE0F0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34155-8F42-D4CC-0B45-BBA0DEBBA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5E91A-F5E4-11B6-530A-A6BB1BE2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8051F-CFE1-56E7-32C5-65538180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66E86-6868-6A87-EEEF-D3F44BE2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63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A75E63-9A4D-AC61-009F-95815CBC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E6212-BDF2-CCB6-27BD-6E711659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DD5BD-1E71-C747-36B2-C804EE6E29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A02A5-4659-4ECB-A9AC-390899850617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B5096-0E52-B585-61F5-DF3D690FF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F95B4-7E89-D6C7-4BE5-E304258BC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E10FB-6012-4F23-BF37-37B02E963D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291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basics.io/challenges/codebasics-resume-project-challenge/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view?r=eyJrIjoiNjlkOTgwNjQtODJlMS00NzBmLWI2MjEtZjMxOWQ2OGFhNjg2IiwidCI6ImJmOGY3NjI3LTQ2MmQtNGFhMC1iMWVlLWNhMzc5ZDlhZTA3OCJ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jpg"/><Relationship Id="rId7" Type="http://schemas.openxmlformats.org/officeDocument/2006/relationships/hyperlink" Target="mailto:biswajitsasmal.data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hyperlink" Target="https://www.linkedin.com/in/biswajitsasmal/" TargetMode="External"/><Relationship Id="rId9" Type="http://schemas.openxmlformats.org/officeDocument/2006/relationships/hyperlink" Target="https://github.com/Coderbiswajit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8ADB-4158-223F-582E-2F7E52B4C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174" y="973393"/>
            <a:ext cx="9144000" cy="1024194"/>
          </a:xfrm>
        </p:spPr>
        <p:txBody>
          <a:bodyPr>
            <a:normAutofit/>
          </a:bodyPr>
          <a:lstStyle/>
          <a:p>
            <a:r>
              <a:rPr lang="en-IN" sz="5400" dirty="0" err="1">
                <a:solidFill>
                  <a:srgbClr val="DE6A73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AtliQ</a:t>
            </a:r>
            <a:r>
              <a:rPr lang="en-IN" sz="5400" dirty="0">
                <a:solidFill>
                  <a:srgbClr val="DE6A73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Grands’ Hotels Revenue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BE94A-7F31-9C50-E4BE-E1C0C611C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645" y="1794541"/>
            <a:ext cx="10137058" cy="1655762"/>
          </a:xfrm>
        </p:spPr>
        <p:txBody>
          <a:bodyPr/>
          <a:lstStyle/>
          <a:p>
            <a:r>
              <a:rPr lang="en-IN" dirty="0">
                <a:solidFill>
                  <a:srgbClr val="DE6A73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Increase(Regain) Revenue &amp; Market Share Using Data Driven Analysis | Hospitality Domain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66074-90C3-F812-7A7E-7524AC561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313" y="117987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FD6B64-92BC-BB03-BF1F-D3CC1C99643A}"/>
              </a:ext>
            </a:extLst>
          </p:cNvPr>
          <p:cNvSpPr txBox="1"/>
          <p:nvPr/>
        </p:nvSpPr>
        <p:spPr>
          <a:xfrm>
            <a:off x="3205316" y="2354613"/>
            <a:ext cx="564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linkClick r:id="rId3"/>
              </a:rPr>
              <a:t>Codebasics</a:t>
            </a:r>
            <a:r>
              <a:rPr lang="en-IN" dirty="0">
                <a:hlinkClick r:id="rId3"/>
              </a:rPr>
              <a:t> Resume Project Challenge</a:t>
            </a:r>
            <a:r>
              <a:rPr lang="en-IN" dirty="0"/>
              <a:t>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| Revenue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73B6D-9182-BC33-EDC0-14F7E7F3C6C8}"/>
              </a:ext>
            </a:extLst>
          </p:cNvPr>
          <p:cNvSpPr txBox="1"/>
          <p:nvPr/>
        </p:nvSpPr>
        <p:spPr>
          <a:xfrm>
            <a:off x="8544232" y="5992798"/>
            <a:ext cx="3460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Presented By : BISWAJIT SASMAL</a:t>
            </a:r>
          </a:p>
          <a:p>
            <a:r>
              <a:rPr lang="en-IN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Date : 10</a:t>
            </a:r>
            <a:r>
              <a:rPr lang="en-IN" sz="2000" baseline="30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th</a:t>
            </a:r>
            <a:r>
              <a:rPr lang="en-IN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March , 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BC7452-CCD3-F33F-EEF6-72434DC177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09" y="4050927"/>
            <a:ext cx="2399071" cy="1941871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5020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741993-41D9-5AD2-B9A3-784FBC73A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147484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2A55C2-6B4E-4202-3D62-4E6DEE05FA9C}"/>
              </a:ext>
            </a:extLst>
          </p:cNvPr>
          <p:cNvSpPr txBox="1"/>
          <p:nvPr/>
        </p:nvSpPr>
        <p:spPr>
          <a:xfrm>
            <a:off x="4326193" y="243470"/>
            <a:ext cx="4119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spc="300" dirty="0">
                <a:solidFill>
                  <a:srgbClr val="DE6A73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Table of Content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DD17C-CE7C-E2CE-9DF6-8555181A3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4267548"/>
            <a:ext cx="1468035" cy="1829497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7D1BF9-CFAC-18B9-B475-2907D7A4AC72}"/>
              </a:ext>
            </a:extLst>
          </p:cNvPr>
          <p:cNvSpPr txBox="1"/>
          <p:nvPr/>
        </p:nvSpPr>
        <p:spPr>
          <a:xfrm>
            <a:off x="4326193" y="2605549"/>
            <a:ext cx="55945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u="sng" dirty="0">
                <a:solidFill>
                  <a:schemeClr val="bg1"/>
                </a:solidFill>
                <a:latin typeface="Bell MT" panose="02020503060305020303" pitchFamily="18" charset="0"/>
              </a:rPr>
              <a:t>Company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u="sng" dirty="0">
                <a:solidFill>
                  <a:schemeClr val="bg1"/>
                </a:solidFill>
                <a:latin typeface="Bell MT" panose="02020503060305020303" pitchFamily="18" charset="0"/>
              </a:rPr>
              <a:t>Project Problem Statement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u="sng" dirty="0">
                <a:solidFill>
                  <a:schemeClr val="bg1"/>
                </a:solidFill>
                <a:latin typeface="Bell MT" panose="02020503060305020303" pitchFamily="18" charset="0"/>
              </a:rPr>
              <a:t>Project Task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u="sng" dirty="0">
                <a:solidFill>
                  <a:schemeClr val="bg1"/>
                </a:solidFill>
                <a:latin typeface="Bell MT" panose="02020503060305020303" pitchFamily="18" charset="0"/>
              </a:rPr>
              <a:t>Dataset &amp; Methodology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u="sng" dirty="0">
                <a:solidFill>
                  <a:schemeClr val="bg1"/>
                </a:solidFill>
                <a:latin typeface="Bell MT" panose="02020503060305020303" pitchFamily="18" charset="0"/>
              </a:rPr>
              <a:t>Some Crucial Insights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u="sng" dirty="0">
                <a:solidFill>
                  <a:schemeClr val="bg1"/>
                </a:solidFill>
                <a:latin typeface="Bell MT" panose="02020503060305020303" pitchFamily="18" charset="0"/>
              </a:rPr>
              <a:t>Recommendation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3834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11F5F3-1AA5-AAEC-9719-FC34D68A3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147484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466B07-AE2A-F586-EBDF-B9EE26E42E2F}"/>
              </a:ext>
            </a:extLst>
          </p:cNvPr>
          <p:cNvSpPr txBox="1"/>
          <p:nvPr/>
        </p:nvSpPr>
        <p:spPr>
          <a:xfrm>
            <a:off x="4336025" y="243470"/>
            <a:ext cx="4041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spc="300" dirty="0">
                <a:solidFill>
                  <a:srgbClr val="DE6A73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Company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5AADF-8EDF-A669-1459-21E05CB7A21F}"/>
              </a:ext>
            </a:extLst>
          </p:cNvPr>
          <p:cNvSpPr txBox="1"/>
          <p:nvPr/>
        </p:nvSpPr>
        <p:spPr>
          <a:xfrm>
            <a:off x="2104103" y="2438400"/>
            <a:ext cx="921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  <a:cs typeface="Aparajita" panose="02020603050405020304" pitchFamily="18" charset="0"/>
              </a:rPr>
              <a:t>AtliQ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  <a:cs typeface="Aparajita" panose="02020603050405020304" pitchFamily="18" charset="0"/>
              </a:rPr>
              <a:t> Grands owns multiple five-star hotels across India In Major Cities (Delhi , Mumbai , Bangalore, Hyderabad). They have been in the hospitality industry for the past 20 years.</a:t>
            </a:r>
            <a:endParaRPr lang="en-IN" dirty="0">
              <a:solidFill>
                <a:schemeClr val="bg1"/>
              </a:solidFill>
              <a:latin typeface="Bell MT" panose="02020503060305020303" pitchFamily="18" charset="0"/>
              <a:cs typeface="Aparajita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44A02-44D4-F464-CABB-4EEC595BE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4837471"/>
            <a:ext cx="1241322" cy="15516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F9D040-908A-A107-8853-EA3DC38EA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053" y="4837471"/>
            <a:ext cx="1749487" cy="15516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1072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266E4B-5E90-B057-4DE7-533FBB9A5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147484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469988-A4AC-1FEA-19D0-67A30C2BA4F7}"/>
              </a:ext>
            </a:extLst>
          </p:cNvPr>
          <p:cNvSpPr txBox="1"/>
          <p:nvPr/>
        </p:nvSpPr>
        <p:spPr>
          <a:xfrm>
            <a:off x="4119716" y="235974"/>
            <a:ext cx="5515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spc="300" dirty="0">
                <a:solidFill>
                  <a:srgbClr val="DE6A73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Project 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20820-6582-92BD-B403-B67B730E9051}"/>
              </a:ext>
            </a:extLst>
          </p:cNvPr>
          <p:cNvSpPr txBox="1"/>
          <p:nvPr/>
        </p:nvSpPr>
        <p:spPr>
          <a:xfrm>
            <a:off x="2635045" y="1172776"/>
            <a:ext cx="75118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Due to strategic moves from other competitors and ineffective decision-making in management, 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AtliQ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Grands are losing its market share and revenue in the luxury/business hotels category. As a strategic move, the managing director of 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AtliQ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Grands wanted to incorporate “Business and Data Intelligence” to regain their market share and revenue. However, they do not have an in-house data analytics team to provide them with these insights.</a:t>
            </a:r>
            <a:b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</a:br>
            <a:b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</a:b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Their revenue management team had decided to hire a 3rd party service provider to provide them with insights from their historical data.</a:t>
            </a:r>
            <a:endParaRPr lang="en-IN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55BB5B-6CAC-B4B7-36F5-1081D33D4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045" y="4035098"/>
            <a:ext cx="7443020" cy="267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4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C69043-D1D7-10CB-4BDE-72496BBE6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147484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A5FAA2-52CA-EB98-2C70-A22CC33D4477}"/>
              </a:ext>
            </a:extLst>
          </p:cNvPr>
          <p:cNvSpPr txBox="1"/>
          <p:nvPr/>
        </p:nvSpPr>
        <p:spPr>
          <a:xfrm>
            <a:off x="4306529" y="294968"/>
            <a:ext cx="3942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spc="300" dirty="0">
                <a:solidFill>
                  <a:srgbClr val="DE6A73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Project 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604D2-2403-FDF6-CDB0-05226327DBE3}"/>
              </a:ext>
            </a:extLst>
          </p:cNvPr>
          <p:cNvSpPr txBox="1"/>
          <p:nvPr/>
        </p:nvSpPr>
        <p:spPr>
          <a:xfrm>
            <a:off x="2674374" y="1435510"/>
            <a:ext cx="7472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You are a data analyst who has been provided with sample data and a mock-up dashboard to work on the following task. </a:t>
            </a:r>
          </a:p>
          <a:p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1. Create the metrics according to the metric list.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2. Create a dashboard according to the mock-up provided by stakeholders.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3. Create relevant insights that are not provided in the metric list/mock-up dashboard.</a:t>
            </a:r>
          </a:p>
          <a:p>
            <a:endParaRPr lang="en-IN" u="sng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3FF360-59F4-C0EA-752A-A30BDAA21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867" y="3429000"/>
            <a:ext cx="440005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1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1B13BA-DE98-C5A1-4963-3D01BFE9B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147484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915A5B-B6DF-0B71-B4F0-9C7E549BA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91" y="1331724"/>
            <a:ext cx="1425580" cy="10533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A0BC5B-4085-64CB-BA69-E6229F3B7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4374" y="1331723"/>
            <a:ext cx="1425580" cy="10533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D095AE-80D3-8877-D4D0-0563CF0FBAD7}"/>
              </a:ext>
            </a:extLst>
          </p:cNvPr>
          <p:cNvSpPr txBox="1"/>
          <p:nvPr/>
        </p:nvSpPr>
        <p:spPr>
          <a:xfrm>
            <a:off x="3864078" y="147484"/>
            <a:ext cx="5525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spc="300" dirty="0">
                <a:solidFill>
                  <a:srgbClr val="DE6A73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Dataset &amp;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67686-0F15-F676-2122-B139A4B38368}"/>
              </a:ext>
            </a:extLst>
          </p:cNvPr>
          <p:cNvSpPr txBox="1"/>
          <p:nvPr/>
        </p:nvSpPr>
        <p:spPr>
          <a:xfrm>
            <a:off x="2310581" y="1331723"/>
            <a:ext cx="7875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Bell MT" panose="02020503060305020303" pitchFamily="18" charset="0"/>
              </a:rPr>
              <a:t>For This Project I’m Using  SQL Server Management Studio (SSMS) to solve business Questions and data understanding &amp; Power BI Desktop for Data Visualization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537A9C-BDFE-C8CB-88CB-07192E1706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2557838"/>
            <a:ext cx="5397910" cy="40902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42D900-1CA8-617A-4031-29E6F69DFD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888" y="3136489"/>
            <a:ext cx="5397908" cy="3511567"/>
          </a:xfrm>
          <a:prstGeom prst="roundRect">
            <a:avLst>
              <a:gd name="adj" fmla="val 383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4FABF7-9473-0AD1-09BE-856C0E20B8B6}"/>
              </a:ext>
            </a:extLst>
          </p:cNvPr>
          <p:cNvSpPr txBox="1"/>
          <p:nvPr/>
        </p:nvSpPr>
        <p:spPr>
          <a:xfrm>
            <a:off x="7352029" y="2669851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Bell MT" panose="02020503060305020303" pitchFamily="18" charset="0"/>
              </a:rPr>
              <a:t>Database ER Diagram</a:t>
            </a:r>
          </a:p>
        </p:txBody>
      </p:sp>
    </p:spTree>
    <p:extLst>
      <p:ext uri="{BB962C8B-B14F-4D97-AF65-F5344CB8AC3E}">
        <p14:creationId xmlns:p14="http://schemas.microsoft.com/office/powerpoint/2010/main" val="80729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3E9F80-858A-E917-A5FD-0B9DDB630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147484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959427-067F-AFDF-5F6E-32641490D66B}"/>
              </a:ext>
            </a:extLst>
          </p:cNvPr>
          <p:cNvSpPr txBox="1"/>
          <p:nvPr/>
        </p:nvSpPr>
        <p:spPr>
          <a:xfrm>
            <a:off x="344129" y="2900516"/>
            <a:ext cx="3618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spc="300" dirty="0">
                <a:solidFill>
                  <a:srgbClr val="DE6A73"/>
                </a:solidFill>
                <a:latin typeface="Bell MT" panose="02020503060305020303" pitchFamily="18" charset="0"/>
              </a:rPr>
              <a:t>Power BI Report at a Glance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FF86E61-B2F0-C31F-CDE1-4C7375823135}"/>
              </a:ext>
            </a:extLst>
          </p:cNvPr>
          <p:cNvSpPr/>
          <p:nvPr/>
        </p:nvSpPr>
        <p:spPr>
          <a:xfrm>
            <a:off x="4031226" y="3185652"/>
            <a:ext cx="1081548" cy="540774"/>
          </a:xfrm>
          <a:prstGeom prst="rightArrow">
            <a:avLst/>
          </a:prstGeom>
          <a:solidFill>
            <a:srgbClr val="DE6A73"/>
          </a:solid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78210-3131-6C97-0E6E-AC004176D5C7}"/>
              </a:ext>
            </a:extLst>
          </p:cNvPr>
          <p:cNvSpPr txBox="1"/>
          <p:nvPr/>
        </p:nvSpPr>
        <p:spPr>
          <a:xfrm>
            <a:off x="580103" y="4630994"/>
            <a:ext cx="345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Power BI Live Dashboard Link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CE6AB-C4A4-F1C8-0A58-6DE1E9260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545" y="238432"/>
            <a:ext cx="6496227" cy="638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2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F8E26E-1F82-5C59-DCFA-F546FB266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147484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6B238B-C6E0-BD4B-B91D-70C620BD7C7E}"/>
              </a:ext>
            </a:extLst>
          </p:cNvPr>
          <p:cNvSpPr txBox="1"/>
          <p:nvPr/>
        </p:nvSpPr>
        <p:spPr>
          <a:xfrm>
            <a:off x="4159045" y="245806"/>
            <a:ext cx="4751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spc="300" dirty="0">
                <a:solidFill>
                  <a:srgbClr val="DE6A73"/>
                </a:solidFill>
                <a:latin typeface="Bell MT" panose="02020503060305020303" pitchFamily="18" charset="0"/>
              </a:rPr>
              <a:t>Some Crucial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E0127D-A143-A420-3084-9F62F06818F8}"/>
              </a:ext>
            </a:extLst>
          </p:cNvPr>
          <p:cNvSpPr txBox="1"/>
          <p:nvPr/>
        </p:nvSpPr>
        <p:spPr>
          <a:xfrm>
            <a:off x="2251587" y="979883"/>
            <a:ext cx="802312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Total Revenue: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AtliQ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Grands recorded a total revenue of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₹1.71B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over the three-month period (May–July 2022).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Revenue by Hotel Category: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Luxury hotels dominated revenue contribution at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62% (₹1.05B)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, while Business hotels accounted for the remaining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38% (₹656.01M)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Revenue by City: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Mumbai led city-wise revenue at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39% (₹668.64M)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, followed by Bangalore at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25% (₹420.40M)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, with Delhi &amp; Hyderabad jointly contributing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36% (₹619.73M)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Occupancy by Day Type: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Weekend occupancy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(62.64%)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consistently outperformed weekday occupancy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(55.99%)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across the period.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Overall Performance: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Overall 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Realisation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stood at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70.15%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against an Occupancy rate of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57.87%.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err="1">
                <a:solidFill>
                  <a:schemeClr val="bg1"/>
                </a:solidFill>
                <a:latin typeface="Bell MT" panose="02020503060305020303" pitchFamily="18" charset="0"/>
              </a:rPr>
              <a:t>Realisation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 by Platform: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Realisation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(%) remained largely uniform across all booking platforms and channels.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RevPAR: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Overall Revenue Per Available Room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(RevPAR)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was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₹7.35K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ADR: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Overall Average Daily Rate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(ADR)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was recorded at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₹12.70K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Revenue Leakage: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Out of ₹2.01B gross revenue generated,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₹298.77M (15%)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was lost due to booking cancellations, yielding a net revenue of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₹1.71B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Cancellation Rate: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The overall booking cancellation rate was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24.83%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, representing a significant area of revenue recovery opportunity.</a:t>
            </a:r>
            <a:endParaRPr lang="en-IN" b="1" u="sng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797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AF8FB7-AD7E-7122-94B4-11A7D4A94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147484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381EC3-3DA5-7D25-28D8-3161502B6E27}"/>
              </a:ext>
            </a:extLst>
          </p:cNvPr>
          <p:cNvSpPr txBox="1"/>
          <p:nvPr/>
        </p:nvSpPr>
        <p:spPr>
          <a:xfrm>
            <a:off x="3942735" y="339457"/>
            <a:ext cx="4857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spc="300" dirty="0">
                <a:solidFill>
                  <a:srgbClr val="DE6A73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Recommendation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2F7AFB-5C75-DE89-2BFB-4D7794301198}"/>
              </a:ext>
            </a:extLst>
          </p:cNvPr>
          <p:cNvSpPr txBox="1"/>
          <p:nvPr/>
        </p:nvSpPr>
        <p:spPr>
          <a:xfrm>
            <a:off x="2084439" y="1415845"/>
            <a:ext cx="855406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Fix the Cancellation Problem — It's Costing ₹298.77M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AtliQ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Grands is losing 15% of every rupee it earns just because customers cancel their bookings. The fix is simple — charge a small cancellation fee or offer a discount to customers who don't cancel. This way, customers think twice before cancelling, and 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AtliQ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keeps more of the money it already earned.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Push More Weekend Bookings — People Are Already Coming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Weekends already have higher occupancy (62.64%) compared to weekdays (55.99%). This means people </a:t>
            </a:r>
            <a:r>
              <a:rPr lang="en-US" i="1" dirty="0">
                <a:solidFill>
                  <a:schemeClr val="bg1"/>
                </a:solidFill>
                <a:latin typeface="Bell MT" panose="02020503060305020303" pitchFamily="18" charset="0"/>
              </a:rPr>
              <a:t>want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to stay on weekends. 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AtliQ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should run special weekend deals and packages to fill even more rooms and earn more during those days instead of leaving empty rooms on the table.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Focus More on Mumbai &amp; Luxury Hotels — That's Where the Real Money Is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Mumbai alone brings in 39% of all revenue, and Luxury hotels bring in 62% of all revenue. These two are clearly the strongest performers. 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AtliQ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should invest more in improving the experience at Mumbai properties and Luxury hotels — better service, better marketing — because every extra rupee spent there will return far more than spending it somewhere weaker.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Target Corporates in Delhi &amp; Hyderabad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— Partner with local companies for bulk weekday bookings and upgrade basic business amenities to grow the weakest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36%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revenue contribution.</a:t>
            </a:r>
            <a:endParaRPr lang="en-IN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97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ACE7F8-C7D5-38AB-E135-D2FFF726E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147484"/>
            <a:ext cx="1145374" cy="776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18A027-8FB8-3E3D-EFD3-928198FCE0A2}"/>
              </a:ext>
            </a:extLst>
          </p:cNvPr>
          <p:cNvSpPr txBox="1"/>
          <p:nvPr/>
        </p:nvSpPr>
        <p:spPr>
          <a:xfrm>
            <a:off x="1633959" y="254878"/>
            <a:ext cx="89240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EDD01-B672-F0A0-D85C-08213DC1FBF7}"/>
              </a:ext>
            </a:extLst>
          </p:cNvPr>
          <p:cNvSpPr txBox="1"/>
          <p:nvPr/>
        </p:nvSpPr>
        <p:spPr>
          <a:xfrm>
            <a:off x="4132161" y="1986967"/>
            <a:ext cx="58452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C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BISWAJIT SASMAL</a:t>
            </a:r>
          </a:p>
          <a:p>
            <a:pPr algn="ctr"/>
            <a:r>
              <a:rPr lang="en-IN" sz="2800" b="1" dirty="0">
                <a:solidFill>
                  <a:srgbClr val="FFC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Aspiring Data Analyst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FBA1D-E692-F499-2CB3-8680BD529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467" y="1499043"/>
            <a:ext cx="1871868" cy="1929957"/>
          </a:xfrm>
          <a:prstGeom prst="flowChartConnector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F68761-87A0-0419-96C1-3ABCDD115E33}"/>
              </a:ext>
            </a:extLst>
          </p:cNvPr>
          <p:cNvSpPr txBox="1"/>
          <p:nvPr/>
        </p:nvSpPr>
        <p:spPr>
          <a:xfrm>
            <a:off x="3958541" y="3808986"/>
            <a:ext cx="3680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Connect With Me</a:t>
            </a:r>
          </a:p>
        </p:txBody>
      </p:sp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06FF6EE3-F728-7DF5-5F70-6D9F3BD717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467" y="4673165"/>
            <a:ext cx="1140542" cy="11405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28BABA93-0D07-C31E-6955-F4A59EDA80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662" y="4673165"/>
            <a:ext cx="1140542" cy="11405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hlinkClick r:id="rId9"/>
            <a:extLst>
              <a:ext uri="{FF2B5EF4-FFF2-40B4-BE49-F238E27FC236}">
                <a16:creationId xmlns:a16="http://schemas.microsoft.com/office/drawing/2014/main" id="{53D1E3D2-6FC3-11DC-8A87-6DEFEA187C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857" y="4673165"/>
            <a:ext cx="1140542" cy="11405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20253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776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Aparajita</vt:lpstr>
      <vt:lpstr>Arial</vt:lpstr>
      <vt:lpstr>Bell MT</vt:lpstr>
      <vt:lpstr>Calibri</vt:lpstr>
      <vt:lpstr>Calibri Light</vt:lpstr>
      <vt:lpstr>Office Theme</vt:lpstr>
      <vt:lpstr>AtliQ Grands’ Hotels Revenue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BISWAJIT SASMAL</dc:creator>
  <cp:lastModifiedBy>BISWAJIT SASMAL</cp:lastModifiedBy>
  <cp:revision>24</cp:revision>
  <dcterms:created xsi:type="dcterms:W3CDTF">2026-03-09T15:58:20Z</dcterms:created>
  <dcterms:modified xsi:type="dcterms:W3CDTF">2026-03-11T06:21:13Z</dcterms:modified>
</cp:coreProperties>
</file>